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C326FDFB-82A8-46E7-B886-F63C9D506505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A0162B4-65A6-4FF4-B981-5EE91E13CE8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F4AC1BB-7C66-4793-A836-AE346C49171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849E273-7C05-48E0-B11C-DA0A723879B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96BE500-525C-4E1E-9FE4-7FEF3A5A4D0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6E4C772-0976-4CF4-9323-B6F2814C869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2FB9731-7AC2-44AD-8F9A-1DFC886594E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4CA14A4-1DF6-45AD-86C2-FB5E6BE3875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648CBF0-1AD8-4735-9DE4-85C7F0EBC71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ARK">
    <p:bg>
      <p:bgPr>
        <a:solidFill>
          <a:srgbClr val="0507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507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1"/>
          <p:cNvSpPr/>
          <p:nvPr/>
        </p:nvSpPr>
        <p:spPr>
          <a:xfrm>
            <a:off x="594360" y="932760"/>
            <a:ext cx="841212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100" b="1" u="none" strike="noStrike">
                <a:solidFill>
                  <a:srgbClr val="EAF6FF"/>
                </a:solidFill>
                <a:effectLst/>
                <a:uFillTx/>
                <a:latin typeface="Arial"/>
                <a:ea typeface="Arial"/>
              </a:rPr>
              <a:t>Self-initializing generic UI</a:t>
            </a:r>
            <a:endParaRPr lang="en-US" sz="3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100" b="1" u="none" strike="noStrike">
                <a:solidFill>
                  <a:srgbClr val="EAF6FF"/>
                </a:solidFill>
                <a:effectLst/>
                <a:uFillTx/>
                <a:latin typeface="Arial"/>
                <a:ea typeface="Arial"/>
              </a:rPr>
              <a:t>for missing domain facts</a:t>
            </a:r>
            <a:endParaRPr lang="en-US" sz="3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2"/>
          <p:cNvSpPr/>
          <p:nvPr/>
        </p:nvSpPr>
        <p:spPr>
          <a:xfrm>
            <a:off x="621720" y="2304360"/>
            <a:ext cx="10789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EAF6FF"/>
                </a:solidFill>
                <a:effectLst/>
                <a:uFillTx/>
                <a:latin typeface="Arial"/>
                <a:ea typeface="Arial"/>
              </a:rPr>
              <a:t>Problem: when no domain files are loaded, the UI has no active domain, no objects, no nodes, no properties, no positions, and no images.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3"/>
          <p:cNvSpPr/>
          <p:nvPr/>
        </p:nvSpPr>
        <p:spPr>
          <a:xfrm>
            <a:off x="685800" y="3154680"/>
            <a:ext cx="1737000" cy="310680"/>
          </a:xfrm>
          <a:prstGeom prst="rect">
            <a:avLst/>
          </a:prstGeom>
          <a:solidFill>
            <a:srgbClr val="0E1B2D"/>
          </a:solidFill>
          <a:ln w="11430">
            <a:solidFill>
              <a:srgbClr val="35E7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EAF6FF"/>
                </a:solidFill>
                <a:effectLst/>
                <a:uFillTx/>
                <a:latin typeface="Arial"/>
                <a:ea typeface="Arial"/>
              </a:rPr>
              <a:t>active_domain(D)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4"/>
          <p:cNvSpPr/>
          <p:nvPr/>
        </p:nvSpPr>
        <p:spPr>
          <a:xfrm>
            <a:off x="2651760" y="3154680"/>
            <a:ext cx="1508400" cy="310680"/>
          </a:xfrm>
          <a:prstGeom prst="rect">
            <a:avLst/>
          </a:prstGeom>
          <a:solidFill>
            <a:srgbClr val="0E1B2D"/>
          </a:solidFill>
          <a:ln w="11430">
            <a:solidFill>
              <a:srgbClr val="2EEC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EAF6FF"/>
                </a:solidFill>
                <a:effectLst/>
                <a:uFillTx/>
                <a:latin typeface="Arial"/>
                <a:ea typeface="Arial"/>
              </a:rPr>
              <a:t>node((X,Y))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5"/>
          <p:cNvSpPr/>
          <p:nvPr/>
        </p:nvSpPr>
        <p:spPr>
          <a:xfrm>
            <a:off x="4434840" y="3154680"/>
            <a:ext cx="1416960" cy="310680"/>
          </a:xfrm>
          <a:prstGeom prst="rect">
            <a:avLst/>
          </a:prstGeom>
          <a:solidFill>
            <a:srgbClr val="0E1B2D"/>
          </a:solidFill>
          <a:ln w="11430">
            <a:solidFill>
              <a:srgbClr val="4DA3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EAF6FF"/>
                </a:solidFill>
                <a:effectLst/>
                <a:uFillTx/>
                <a:latin typeface="Arial"/>
                <a:ea typeface="Arial"/>
              </a:rPr>
              <a:t>object(O,T)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6"/>
          <p:cNvSpPr/>
          <p:nvPr/>
        </p:nvSpPr>
        <p:spPr>
          <a:xfrm>
            <a:off x="6126480" y="3154680"/>
            <a:ext cx="1828440" cy="310680"/>
          </a:xfrm>
          <a:prstGeom prst="rect">
            <a:avLst/>
          </a:prstGeom>
          <a:solidFill>
            <a:srgbClr val="0E1B2D"/>
          </a:solidFill>
          <a:ln w="11430">
            <a:solidFill>
              <a:srgbClr val="FFD8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EAF6FF"/>
                </a:solidFill>
                <a:effectLst/>
                <a:uFillTx/>
                <a:latin typeface="Arial"/>
                <a:ea typeface="Arial"/>
              </a:rPr>
              <a:t>image(O,R,File)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7"/>
          <p:cNvSpPr/>
          <p:nvPr/>
        </p:nvSpPr>
        <p:spPr>
          <a:xfrm>
            <a:off x="8229600" y="3154680"/>
            <a:ext cx="1874160" cy="310680"/>
          </a:xfrm>
          <a:prstGeom prst="rect">
            <a:avLst/>
          </a:prstGeom>
          <a:solidFill>
            <a:srgbClr val="0E1B2D"/>
          </a:solidFill>
          <a:ln w="1143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EAF6FF"/>
                </a:solidFill>
                <a:effectLst/>
                <a:uFillTx/>
                <a:latin typeface="Arial"/>
                <a:ea typeface="Arial"/>
              </a:rPr>
              <a:t>position(N,R,O)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8"/>
          <p:cNvSpPr/>
          <p:nvPr/>
        </p:nvSpPr>
        <p:spPr>
          <a:xfrm>
            <a:off x="5029200" y="3684960"/>
            <a:ext cx="1919880" cy="310680"/>
          </a:xfrm>
          <a:prstGeom prst="rect">
            <a:avLst/>
          </a:prstGeom>
          <a:solidFill>
            <a:srgbClr val="0E1B2D"/>
          </a:solidFill>
          <a:ln w="11430">
            <a:solidFill>
              <a:srgbClr val="FF5D6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EAF6FF"/>
                </a:solidFill>
                <a:effectLst/>
                <a:uFillTx/>
                <a:latin typeface="Arial"/>
                <a:ea typeface="Arial"/>
              </a:rPr>
              <a:t>property(O,P,V)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9"/>
          <p:cNvSpPr/>
          <p:nvPr/>
        </p:nvSpPr>
        <p:spPr>
          <a:xfrm>
            <a:off x="822960" y="4663440"/>
            <a:ext cx="10560960" cy="868320"/>
          </a:xfrm>
          <a:prstGeom prst="rect">
            <a:avLst/>
          </a:prstGeom>
          <a:solidFill>
            <a:srgbClr val="07111F"/>
          </a:solidFill>
          <a:ln w="12700">
            <a:solidFill>
              <a:srgbClr val="2EEC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AF6FF"/>
                </a:solidFill>
                <a:effectLst/>
                <a:uFillTx/>
                <a:latin typeface="Arial"/>
                <a:ea typeface="Arial"/>
              </a:rPr>
              <a:t>Design principle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AF6FF"/>
                </a:solidFill>
                <a:effectLst/>
                <a:uFillTx/>
                <a:latin typeface="Arial"/>
                <a:ea typeface="Arial"/>
              </a:rPr>
              <a:t>The UI should not fail silently. It should become an authoring interface that creates missing atoms and lets users edit/remove only facts added during the session.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10"/>
          <p:cNvSpPr/>
          <p:nvPr/>
        </p:nvSpPr>
        <p:spPr>
          <a:xfrm>
            <a:off x="411480" y="6437160"/>
            <a:ext cx="11384280" cy="360"/>
          </a:xfrm>
          <a:prstGeom prst="line">
            <a:avLst/>
          </a:prstGeom>
          <a:ln w="6350">
            <a:solidFill>
              <a:srgbClr val="18324B">
                <a:alpha val="9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1"/>
          <p:cNvSpPr/>
          <p:nvPr/>
        </p:nvSpPr>
        <p:spPr>
          <a:xfrm>
            <a:off x="594360" y="6537960"/>
            <a:ext cx="384012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A6B7C8"/>
                </a:solidFill>
                <a:effectLst/>
                <a:uFillTx/>
                <a:latin typeface="Arial"/>
                <a:ea typeface="Arial"/>
              </a:rPr>
              <a:t>MSc Thesis Progress · Generic ASP-driven UI with Clinguin</a:t>
            </a:r>
            <a:endParaRPr lang="en-U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2"/>
          <p:cNvSpPr/>
          <p:nvPr/>
        </p:nvSpPr>
        <p:spPr>
          <a:xfrm>
            <a:off x="11567160" y="6537960"/>
            <a:ext cx="31968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74FF6B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507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0"/>
          <p:cNvSpPr/>
          <p:nvPr/>
        </p:nvSpPr>
        <p:spPr>
          <a:xfrm>
            <a:off x="502920" y="164520"/>
            <a:ext cx="38401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2EECA7"/>
                </a:solidFill>
                <a:effectLst/>
                <a:uFillTx/>
                <a:latin typeface="Arial"/>
                <a:ea typeface="Arial"/>
              </a:rPr>
              <a:t>PROBLEM SCENARIO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"/>
          <p:cNvSpPr/>
          <p:nvPr/>
        </p:nvSpPr>
        <p:spPr>
          <a:xfrm>
            <a:off x="502920" y="475560"/>
            <a:ext cx="11155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EAF6FF"/>
                </a:solidFill>
                <a:effectLst/>
                <a:uFillTx/>
                <a:latin typeface="Arial"/>
                <a:ea typeface="Arial"/>
              </a:rPr>
              <a:t>Running the UI without domain files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2"/>
          <p:cNvSpPr/>
          <p:nvPr/>
        </p:nvSpPr>
        <p:spPr>
          <a:xfrm>
            <a:off x="502920" y="932760"/>
            <a:ext cx="108810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AF6FF"/>
                </a:solidFill>
                <a:effectLst/>
                <a:uFillTx/>
                <a:latin typeface="Arial"/>
                <a:ea typeface="Arial"/>
              </a:rPr>
              <a:t>Without an initial domain model, the generic UI has no any generic fact to project into visible components.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3"/>
          <p:cNvSpPr/>
          <p:nvPr/>
        </p:nvSpPr>
        <p:spPr>
          <a:xfrm>
            <a:off x="594360" y="1517760"/>
            <a:ext cx="10972440" cy="749520"/>
          </a:xfrm>
          <a:prstGeom prst="rect">
            <a:avLst/>
          </a:prstGeom>
          <a:solidFill>
            <a:srgbClr val="07111F"/>
          </a:solidFill>
          <a:ln w="8890">
            <a:solidFill>
              <a:srgbClr val="2EEC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EAF6FF"/>
                </a:solidFill>
                <a:effectLst/>
                <a:uFillTx/>
                <a:latin typeface="Courier New"/>
                <a:ea typeface="Courier New"/>
              </a:rPr>
              <a:t>clinguin client-server --ui-files ui-files/ui_presentation.lp \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EAF6FF"/>
                </a:solidFill>
                <a:effectLst/>
                <a:uFillTx/>
                <a:latin typeface="Courier New"/>
                <a:ea typeface="Courier New"/>
              </a:rPr>
              <a:t>  --custom-classes domain-files/generic_ui_backend.py \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EAF6FF"/>
                </a:solidFill>
                <a:effectLst/>
                <a:uFillTx/>
                <a:latin typeface="Courier New"/>
                <a:ea typeface="Courier New"/>
              </a:rPr>
              <a:t>  --backend GenericUIBackend --server-log-level DEBUG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4"/>
          <p:cNvSpPr/>
          <p:nvPr/>
        </p:nvSpPr>
        <p:spPr>
          <a:xfrm>
            <a:off x="594360" y="2788920"/>
            <a:ext cx="3245760" cy="1096920"/>
          </a:xfrm>
          <a:prstGeom prst="rect">
            <a:avLst/>
          </a:prstGeom>
          <a:solidFill>
            <a:srgbClr val="0B1626"/>
          </a:solidFill>
          <a:ln w="15240">
            <a:solidFill>
              <a:srgbClr val="FF5D6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" tIns="1800" rIns="1800" bIns="180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EAF6FF"/>
                </a:solidFill>
                <a:effectLst/>
                <a:uFillTx/>
                <a:latin typeface="Arial"/>
                <a:ea typeface="Arial"/>
              </a:rPr>
              <a:t>No active domain</a:t>
            </a:r>
            <a:endParaRPr lang="en-US" sz="1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EAF6FF"/>
                </a:solidFill>
                <a:effectLst/>
                <a:uFillTx/>
                <a:latin typeface="Arial"/>
                <a:ea typeface="Arial"/>
              </a:rPr>
              <a:t>The UI cannot know which domain is currently being edited or visualized.</a:t>
            </a:r>
            <a:endParaRPr lang="en-US" sz="1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5"/>
          <p:cNvSpPr/>
          <p:nvPr/>
        </p:nvSpPr>
        <p:spPr>
          <a:xfrm>
            <a:off x="685800" y="2880360"/>
            <a:ext cx="310680" cy="237240"/>
          </a:xfrm>
          <a:prstGeom prst="rect">
            <a:avLst/>
          </a:prstGeom>
          <a:solidFill>
            <a:srgbClr val="07111F"/>
          </a:solidFill>
          <a:ln w="11430">
            <a:solidFill>
              <a:srgbClr val="FF5D6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5D6C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6"/>
          <p:cNvSpPr/>
          <p:nvPr/>
        </p:nvSpPr>
        <p:spPr>
          <a:xfrm>
            <a:off x="3986640" y="3246120"/>
            <a:ext cx="2923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5D6C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7"/>
          <p:cNvSpPr/>
          <p:nvPr/>
        </p:nvSpPr>
        <p:spPr>
          <a:xfrm>
            <a:off x="4434840" y="2788920"/>
            <a:ext cx="3245760" cy="1096920"/>
          </a:xfrm>
          <a:prstGeom prst="rect">
            <a:avLst/>
          </a:prstGeom>
          <a:solidFill>
            <a:srgbClr val="0B1626"/>
          </a:solidFill>
          <a:ln w="15240">
            <a:solidFill>
              <a:srgbClr val="FF5D6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" tIns="1800" rIns="1800" bIns="180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EAF6FF"/>
                </a:solidFill>
                <a:effectLst/>
                <a:uFillTx/>
                <a:latin typeface="Arial"/>
                <a:ea typeface="Arial"/>
              </a:rPr>
              <a:t>No generic facts</a:t>
            </a:r>
            <a:endParaRPr lang="en-US" sz="1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EAF6FF"/>
                </a:solidFill>
                <a:effectLst/>
                <a:uFillTx/>
                <a:latin typeface="Arial"/>
                <a:ea typeface="Arial"/>
              </a:rPr>
              <a:t>No object, node, image, property or position facts are available for rendering.</a:t>
            </a:r>
            <a:endParaRPr lang="en-US" sz="1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8"/>
          <p:cNvSpPr/>
          <p:nvPr/>
        </p:nvSpPr>
        <p:spPr>
          <a:xfrm>
            <a:off x="4526280" y="2880360"/>
            <a:ext cx="310680" cy="237240"/>
          </a:xfrm>
          <a:prstGeom prst="rect">
            <a:avLst/>
          </a:prstGeom>
          <a:solidFill>
            <a:srgbClr val="07111F"/>
          </a:solidFill>
          <a:ln w="11430">
            <a:solidFill>
              <a:srgbClr val="FF5D6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5D6C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9"/>
          <p:cNvSpPr/>
          <p:nvPr/>
        </p:nvSpPr>
        <p:spPr>
          <a:xfrm>
            <a:off x="7818120" y="3246120"/>
            <a:ext cx="2923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5D6C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0"/>
          <p:cNvSpPr/>
          <p:nvPr/>
        </p:nvSpPr>
        <p:spPr>
          <a:xfrm>
            <a:off x="8275320" y="2788920"/>
            <a:ext cx="3245760" cy="1096920"/>
          </a:xfrm>
          <a:prstGeom prst="rect">
            <a:avLst/>
          </a:prstGeom>
          <a:solidFill>
            <a:srgbClr val="0B1626"/>
          </a:solidFill>
          <a:ln w="15240">
            <a:solidFill>
              <a:srgbClr val="FF5D6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" tIns="1800" rIns="1800" bIns="180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EAF6FF"/>
                </a:solidFill>
                <a:effectLst/>
                <a:uFillTx/>
                <a:latin typeface="Arial"/>
                <a:ea typeface="Arial"/>
              </a:rPr>
              <a:t>Blank workspace</a:t>
            </a:r>
            <a:endParaRPr lang="en-US" sz="1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EAF6FF"/>
                </a:solidFill>
                <a:effectLst/>
                <a:uFillTx/>
                <a:latin typeface="Arial"/>
                <a:ea typeface="Arial"/>
              </a:rPr>
              <a:t>Sidebar, grid, inspectorl.</a:t>
            </a:r>
            <a:endParaRPr lang="en-US" sz="1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1"/>
          <p:cNvSpPr/>
          <p:nvPr/>
        </p:nvSpPr>
        <p:spPr>
          <a:xfrm>
            <a:off x="8366760" y="2880360"/>
            <a:ext cx="310680" cy="237240"/>
          </a:xfrm>
          <a:prstGeom prst="rect">
            <a:avLst/>
          </a:prstGeom>
          <a:solidFill>
            <a:srgbClr val="07111F"/>
          </a:solidFill>
          <a:ln w="11430">
            <a:solidFill>
              <a:srgbClr val="FF5D6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5D6C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3"/>
          <p:cNvSpPr/>
          <p:nvPr/>
        </p:nvSpPr>
        <p:spPr>
          <a:xfrm>
            <a:off x="5074920" y="4663440"/>
            <a:ext cx="6400440" cy="959760"/>
          </a:xfrm>
          <a:prstGeom prst="rect">
            <a:avLst/>
          </a:prstGeom>
          <a:solidFill>
            <a:srgbClr val="07111F"/>
          </a:solidFill>
          <a:ln w="12700">
            <a:solidFill>
              <a:srgbClr val="2EEC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AF6FF"/>
                </a:solidFill>
                <a:effectLst/>
                <a:uFillTx/>
                <a:latin typeface="Arial"/>
                <a:ea typeface="Arial"/>
              </a:rPr>
              <a:t> Every fact created during the session remains editable and removable.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14"/>
          <p:cNvSpPr/>
          <p:nvPr/>
        </p:nvSpPr>
        <p:spPr>
          <a:xfrm>
            <a:off x="411480" y="6437160"/>
            <a:ext cx="11384280" cy="360"/>
          </a:xfrm>
          <a:prstGeom prst="line">
            <a:avLst/>
          </a:prstGeom>
          <a:ln w="6350">
            <a:solidFill>
              <a:srgbClr val="18324B">
                <a:alpha val="9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6"/>
          <p:cNvSpPr/>
          <p:nvPr/>
        </p:nvSpPr>
        <p:spPr>
          <a:xfrm>
            <a:off x="11567160" y="6537960"/>
            <a:ext cx="31968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74FF6B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507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1"/>
          <p:cNvSpPr/>
          <p:nvPr/>
        </p:nvSpPr>
        <p:spPr>
          <a:xfrm>
            <a:off x="502920" y="475560"/>
            <a:ext cx="11155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EAF6FF"/>
                </a:solidFill>
                <a:effectLst/>
                <a:uFillTx/>
                <a:latin typeface="Arial"/>
                <a:ea typeface="Arial"/>
              </a:rPr>
              <a:t>What information is missing?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3"/>
          <p:cNvSpPr/>
          <p:nvPr/>
        </p:nvSpPr>
        <p:spPr>
          <a:xfrm>
            <a:off x="594360" y="1783080"/>
            <a:ext cx="2285640" cy="594000"/>
          </a:xfrm>
          <a:prstGeom prst="rect">
            <a:avLst/>
          </a:prstGeom>
          <a:solidFill>
            <a:srgbClr val="0B1626"/>
          </a:solidFill>
          <a:ln w="12700">
            <a:solidFill>
              <a:srgbClr val="35E7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AF6FF"/>
                </a:solidFill>
                <a:effectLst/>
                <a:uFillTx/>
                <a:latin typeface="Arial"/>
                <a:ea typeface="Arial"/>
              </a:rPr>
              <a:t>Domain identity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AF6FF"/>
                </a:solidFill>
                <a:effectLst/>
                <a:uFillTx/>
                <a:latin typeface="Arial"/>
                <a:ea typeface="Arial"/>
              </a:rPr>
              <a:t>active_domain(D)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4"/>
          <p:cNvSpPr/>
          <p:nvPr/>
        </p:nvSpPr>
        <p:spPr>
          <a:xfrm>
            <a:off x="594360" y="2788920"/>
            <a:ext cx="2285640" cy="594000"/>
          </a:xfrm>
          <a:prstGeom prst="rect">
            <a:avLst/>
          </a:prstGeom>
          <a:solidFill>
            <a:srgbClr val="0B1626"/>
          </a:solidFill>
          <a:ln w="12700">
            <a:solidFill>
              <a:srgbClr val="2EEC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AF6FF"/>
                </a:solidFill>
                <a:effectLst/>
                <a:uFillTx/>
                <a:latin typeface="Arial"/>
                <a:ea typeface="Arial"/>
              </a:rPr>
              <a:t>Workspace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AF6FF"/>
                </a:solidFill>
                <a:effectLst/>
                <a:uFillTx/>
                <a:latin typeface="Arial"/>
                <a:ea typeface="Arial"/>
              </a:rPr>
              <a:t>node((X,Y))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5"/>
          <p:cNvSpPr/>
          <p:nvPr/>
        </p:nvSpPr>
        <p:spPr>
          <a:xfrm>
            <a:off x="594360" y="3794760"/>
            <a:ext cx="2285640" cy="594000"/>
          </a:xfrm>
          <a:prstGeom prst="rect">
            <a:avLst/>
          </a:prstGeom>
          <a:solidFill>
            <a:srgbClr val="0B1626"/>
          </a:solidFill>
          <a:ln w="12700">
            <a:solidFill>
              <a:srgbClr val="4DA3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AF6FF"/>
                </a:solidFill>
                <a:effectLst/>
                <a:uFillTx/>
                <a:latin typeface="Arial"/>
                <a:ea typeface="Arial"/>
              </a:rPr>
              <a:t>Catalogue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AF6FF"/>
                </a:solidFill>
                <a:effectLst/>
                <a:uFillTx/>
                <a:latin typeface="Arial"/>
                <a:ea typeface="Arial"/>
              </a:rPr>
              <a:t>object(O,T)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6"/>
          <p:cNvSpPr/>
          <p:nvPr/>
        </p:nvSpPr>
        <p:spPr>
          <a:xfrm>
            <a:off x="3931920" y="2240280"/>
            <a:ext cx="4160160" cy="1462680"/>
          </a:xfrm>
          <a:prstGeom prst="rect">
            <a:avLst/>
          </a:prstGeom>
          <a:solidFill>
            <a:srgbClr val="0E1B2D"/>
          </a:solidFill>
          <a:ln w="12700">
            <a:solidFill>
              <a:srgbClr val="FF5D6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AF6FF"/>
                </a:solidFill>
                <a:effectLst/>
                <a:uFillTx/>
                <a:latin typeface="Arial"/>
                <a:ea typeface="Arial"/>
              </a:rPr>
              <a:t>EMPTY DOMAIN STATE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AF6FF"/>
                </a:solidFill>
                <a:effectLst/>
                <a:uFillTx/>
                <a:latin typeface="Arial"/>
                <a:ea typeface="Arial"/>
              </a:rPr>
              <a:t>The UI file loads, but the model contains no facts for generic UI rules to display.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7"/>
          <p:cNvSpPr/>
          <p:nvPr/>
        </p:nvSpPr>
        <p:spPr>
          <a:xfrm>
            <a:off x="9372600" y="1783080"/>
            <a:ext cx="2239920" cy="594000"/>
          </a:xfrm>
          <a:prstGeom prst="rect">
            <a:avLst/>
          </a:prstGeom>
          <a:solidFill>
            <a:srgbClr val="0B1626"/>
          </a:solidFill>
          <a:ln w="12700">
            <a:solidFill>
              <a:srgbClr val="FFD8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AF6FF"/>
                </a:solidFill>
                <a:effectLst/>
                <a:uFillTx/>
                <a:latin typeface="Arial"/>
                <a:ea typeface="Arial"/>
              </a:rPr>
              <a:t>Visuals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AF6FF"/>
                </a:solidFill>
                <a:effectLst/>
                <a:uFillTx/>
                <a:latin typeface="Arial"/>
                <a:ea typeface="Arial"/>
              </a:rPr>
              <a:t>image(O,R,File)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8"/>
          <p:cNvSpPr/>
          <p:nvPr/>
        </p:nvSpPr>
        <p:spPr>
          <a:xfrm>
            <a:off x="9372600" y="2788920"/>
            <a:ext cx="2239920" cy="594000"/>
          </a:xfrm>
          <a:prstGeom prst="rect">
            <a:avLst/>
          </a:prstGeom>
          <a:solidFill>
            <a:srgbClr val="0B1626"/>
          </a:solidFill>
          <a:ln w="1270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AF6FF"/>
                </a:solidFill>
                <a:effectLst/>
                <a:uFillTx/>
                <a:latin typeface="Arial"/>
                <a:ea typeface="Arial"/>
              </a:rPr>
              <a:t>Placement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AF6FF"/>
                </a:solidFill>
                <a:effectLst/>
                <a:uFillTx/>
                <a:latin typeface="Arial"/>
                <a:ea typeface="Arial"/>
              </a:rPr>
              <a:t>position(N,R,O)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9"/>
          <p:cNvSpPr/>
          <p:nvPr/>
        </p:nvSpPr>
        <p:spPr>
          <a:xfrm>
            <a:off x="9372600" y="3794760"/>
            <a:ext cx="2239920" cy="594000"/>
          </a:xfrm>
          <a:prstGeom prst="rect">
            <a:avLst/>
          </a:prstGeom>
          <a:solidFill>
            <a:srgbClr val="0B1626"/>
          </a:solidFill>
          <a:ln w="12700">
            <a:solidFill>
              <a:srgbClr val="FF5D6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AF6FF"/>
                </a:solidFill>
                <a:effectLst/>
                <a:uFillTx/>
                <a:latin typeface="Arial"/>
                <a:ea typeface="Arial"/>
              </a:rPr>
              <a:t>Metadata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AF6FF"/>
                </a:solidFill>
                <a:effectLst/>
                <a:uFillTx/>
                <a:latin typeface="Arial"/>
                <a:ea typeface="Arial"/>
              </a:rPr>
              <a:t>property(O,P,V)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0"/>
          <p:cNvSpPr/>
          <p:nvPr/>
        </p:nvSpPr>
        <p:spPr>
          <a:xfrm>
            <a:off x="640080" y="553212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EECA7"/>
                </a:solidFill>
                <a:effectLst/>
                <a:uFillTx/>
                <a:latin typeface="Arial"/>
                <a:ea typeface="Arial"/>
              </a:rPr>
              <a:t>Observed symptoms: no active-domain bar · empty catalogue · no grid · no inspector facts · no role selector · no property editor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11"/>
          <p:cNvSpPr/>
          <p:nvPr/>
        </p:nvSpPr>
        <p:spPr>
          <a:xfrm>
            <a:off x="411480" y="6437160"/>
            <a:ext cx="11384280" cy="360"/>
          </a:xfrm>
          <a:prstGeom prst="line">
            <a:avLst/>
          </a:prstGeom>
          <a:ln w="6350">
            <a:solidFill>
              <a:srgbClr val="18324B">
                <a:alpha val="9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3"/>
          <p:cNvSpPr/>
          <p:nvPr/>
        </p:nvSpPr>
        <p:spPr>
          <a:xfrm>
            <a:off x="11567160" y="6537960"/>
            <a:ext cx="31968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74FF6B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507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 0"/>
          <p:cNvSpPr/>
          <p:nvPr/>
        </p:nvSpPr>
        <p:spPr>
          <a:xfrm>
            <a:off x="502920" y="164520"/>
            <a:ext cx="38401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2EECA7"/>
                </a:solidFill>
                <a:effectLst/>
                <a:uFillTx/>
                <a:latin typeface="Arial"/>
                <a:ea typeface="Arial"/>
              </a:rPr>
              <a:t>DESIGN RESPONSE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1"/>
          <p:cNvSpPr/>
          <p:nvPr/>
        </p:nvSpPr>
        <p:spPr>
          <a:xfrm>
            <a:off x="502920" y="475560"/>
            <a:ext cx="11155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EAF6FF"/>
                </a:solidFill>
                <a:effectLst/>
                <a:uFillTx/>
                <a:latin typeface="Arial"/>
                <a:ea typeface="Arial"/>
              </a:rPr>
              <a:t>Self-initializing UI: create what the domain file did not provide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2"/>
          <p:cNvSpPr/>
          <p:nvPr/>
        </p:nvSpPr>
        <p:spPr>
          <a:xfrm>
            <a:off x="502920" y="932760"/>
            <a:ext cx="108810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AF6FF"/>
                </a:solidFill>
                <a:effectLst/>
                <a:uFillTx/>
                <a:latin typeface="Arial"/>
                <a:ea typeface="Arial"/>
              </a:rPr>
              <a:t>The UI starts from an empty state and exposes a safe authoring path for the missing facts.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3"/>
          <p:cNvSpPr/>
          <p:nvPr/>
        </p:nvSpPr>
        <p:spPr>
          <a:xfrm>
            <a:off x="502920" y="1874520"/>
            <a:ext cx="1508400" cy="959760"/>
          </a:xfrm>
          <a:prstGeom prst="rect">
            <a:avLst/>
          </a:prstGeom>
          <a:solidFill>
            <a:srgbClr val="0B1626"/>
          </a:solidFill>
          <a:ln w="15240">
            <a:solidFill>
              <a:srgbClr val="35E7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" tIns="1800" rIns="1800" bIns="180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EAF6FF"/>
                </a:solidFill>
                <a:effectLst/>
                <a:uFillTx/>
                <a:latin typeface="Arial"/>
                <a:ea typeface="Arial"/>
              </a:rPr>
              <a:t>Create domain</a:t>
            </a:r>
            <a:endParaRPr lang="en-US" sz="1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EAF6FF"/>
                </a:solidFill>
                <a:effectLst/>
                <a:uFillTx/>
                <a:latin typeface="Arial"/>
                <a:ea typeface="Arial"/>
              </a:rPr>
              <a:t>active_domain(D)</a:t>
            </a:r>
            <a:endParaRPr lang="en-US" sz="1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4"/>
          <p:cNvSpPr/>
          <p:nvPr/>
        </p:nvSpPr>
        <p:spPr>
          <a:xfrm>
            <a:off x="594360" y="1965960"/>
            <a:ext cx="310680" cy="237240"/>
          </a:xfrm>
          <a:prstGeom prst="rect">
            <a:avLst/>
          </a:prstGeom>
          <a:solidFill>
            <a:srgbClr val="07111F"/>
          </a:solidFill>
          <a:ln w="11430">
            <a:solidFill>
              <a:srgbClr val="35E7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35E7FF"/>
                </a:solidFill>
                <a:effectLst/>
                <a:uFillTx/>
                <a:latin typeface="Arial"/>
                <a:ea typeface="Arial"/>
              </a:rPr>
              <a:t>01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5"/>
          <p:cNvSpPr/>
          <p:nvPr/>
        </p:nvSpPr>
        <p:spPr>
          <a:xfrm>
            <a:off x="2103120" y="2221920"/>
            <a:ext cx="2923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2EECA7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6"/>
          <p:cNvSpPr/>
          <p:nvPr/>
        </p:nvSpPr>
        <p:spPr>
          <a:xfrm>
            <a:off x="2395800" y="1874520"/>
            <a:ext cx="1508400" cy="959760"/>
          </a:xfrm>
          <a:prstGeom prst="rect">
            <a:avLst/>
          </a:prstGeom>
          <a:solidFill>
            <a:srgbClr val="0B1626"/>
          </a:solidFill>
          <a:ln w="15240">
            <a:solidFill>
              <a:srgbClr val="2EEC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" tIns="1800" rIns="1800" bIns="180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EAF6FF"/>
                </a:solidFill>
                <a:effectLst/>
                <a:uFillTx/>
                <a:latin typeface="Arial"/>
                <a:ea typeface="Arial"/>
              </a:rPr>
              <a:t>Generate nodes</a:t>
            </a:r>
            <a:endParaRPr lang="en-US" sz="1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EAF6FF"/>
                </a:solidFill>
                <a:effectLst/>
                <a:uFillTx/>
                <a:latin typeface="Arial"/>
                <a:ea typeface="Arial"/>
              </a:rPr>
              <a:t>node((X,Y))</a:t>
            </a:r>
            <a:endParaRPr lang="en-US" sz="1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7"/>
          <p:cNvSpPr/>
          <p:nvPr/>
        </p:nvSpPr>
        <p:spPr>
          <a:xfrm>
            <a:off x="2487240" y="1965960"/>
            <a:ext cx="310680" cy="237240"/>
          </a:xfrm>
          <a:prstGeom prst="rect">
            <a:avLst/>
          </a:prstGeom>
          <a:solidFill>
            <a:srgbClr val="07111F"/>
          </a:solidFill>
          <a:ln w="11430">
            <a:solidFill>
              <a:srgbClr val="2EEC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2EECA7"/>
                </a:solidFill>
                <a:effectLst/>
                <a:uFillTx/>
                <a:latin typeface="Arial"/>
                <a:ea typeface="Arial"/>
              </a:rPr>
              <a:t>02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8"/>
          <p:cNvSpPr/>
          <p:nvPr/>
        </p:nvSpPr>
        <p:spPr>
          <a:xfrm>
            <a:off x="3996000" y="2221920"/>
            <a:ext cx="2923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2EECA7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9"/>
          <p:cNvSpPr/>
          <p:nvPr/>
        </p:nvSpPr>
        <p:spPr>
          <a:xfrm>
            <a:off x="4288680" y="1874520"/>
            <a:ext cx="1508400" cy="959760"/>
          </a:xfrm>
          <a:prstGeom prst="rect">
            <a:avLst/>
          </a:prstGeom>
          <a:solidFill>
            <a:srgbClr val="0B1626"/>
          </a:solidFill>
          <a:ln w="15240">
            <a:solidFill>
              <a:srgbClr val="4DA3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" tIns="1800" rIns="1800" bIns="180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EAF6FF"/>
                </a:solidFill>
                <a:effectLst/>
                <a:uFillTx/>
                <a:latin typeface="Arial"/>
                <a:ea typeface="Arial"/>
              </a:rPr>
              <a:t>Add objects</a:t>
            </a:r>
            <a:endParaRPr lang="en-US" sz="1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EAF6FF"/>
                </a:solidFill>
                <a:effectLst/>
                <a:uFillTx/>
                <a:latin typeface="Arial"/>
                <a:ea typeface="Arial"/>
              </a:rPr>
              <a:t>object(O,T)</a:t>
            </a:r>
            <a:endParaRPr lang="en-US" sz="1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10"/>
          <p:cNvSpPr/>
          <p:nvPr/>
        </p:nvSpPr>
        <p:spPr>
          <a:xfrm>
            <a:off x="4380120" y="1965960"/>
            <a:ext cx="310680" cy="237240"/>
          </a:xfrm>
          <a:prstGeom prst="rect">
            <a:avLst/>
          </a:prstGeom>
          <a:solidFill>
            <a:srgbClr val="07111F"/>
          </a:solidFill>
          <a:ln w="11430">
            <a:solidFill>
              <a:srgbClr val="4DA3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4DA3FF"/>
                </a:solidFill>
                <a:effectLst/>
                <a:uFillTx/>
                <a:latin typeface="Arial"/>
                <a:ea typeface="Arial"/>
              </a:rPr>
              <a:t>03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11"/>
          <p:cNvSpPr/>
          <p:nvPr/>
        </p:nvSpPr>
        <p:spPr>
          <a:xfrm>
            <a:off x="5888880" y="2221920"/>
            <a:ext cx="2923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2EECA7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12"/>
          <p:cNvSpPr/>
          <p:nvPr/>
        </p:nvSpPr>
        <p:spPr>
          <a:xfrm>
            <a:off x="6181200" y="1874520"/>
            <a:ext cx="1508400" cy="959760"/>
          </a:xfrm>
          <a:prstGeom prst="rect">
            <a:avLst/>
          </a:prstGeom>
          <a:solidFill>
            <a:srgbClr val="0B1626"/>
          </a:solidFill>
          <a:ln w="15240">
            <a:solidFill>
              <a:srgbClr val="FFD8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" tIns="1800" rIns="1800" bIns="180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EAF6FF"/>
                </a:solidFill>
                <a:effectLst/>
                <a:uFillTx/>
                <a:latin typeface="Arial"/>
                <a:ea typeface="Arial"/>
              </a:rPr>
              <a:t>Upload images</a:t>
            </a:r>
            <a:endParaRPr lang="en-US" sz="1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EAF6FF"/>
                </a:solidFill>
                <a:effectLst/>
                <a:uFillTx/>
                <a:latin typeface="Arial"/>
                <a:ea typeface="Arial"/>
              </a:rPr>
              <a:t>image(O,R,F)</a:t>
            </a:r>
            <a:endParaRPr lang="en-US" sz="1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13"/>
          <p:cNvSpPr/>
          <p:nvPr/>
        </p:nvSpPr>
        <p:spPr>
          <a:xfrm>
            <a:off x="6272640" y="1965960"/>
            <a:ext cx="310680" cy="237240"/>
          </a:xfrm>
          <a:prstGeom prst="rect">
            <a:avLst/>
          </a:prstGeom>
          <a:solidFill>
            <a:srgbClr val="07111F"/>
          </a:solidFill>
          <a:ln w="11430">
            <a:solidFill>
              <a:srgbClr val="FFD8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D84A"/>
                </a:solidFill>
                <a:effectLst/>
                <a:uFillTx/>
                <a:latin typeface="Arial"/>
                <a:ea typeface="Arial"/>
              </a:rPr>
              <a:t>04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14"/>
          <p:cNvSpPr/>
          <p:nvPr/>
        </p:nvSpPr>
        <p:spPr>
          <a:xfrm>
            <a:off x="7781400" y="2221920"/>
            <a:ext cx="2923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2EECA7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5"/>
          <p:cNvSpPr/>
          <p:nvPr/>
        </p:nvSpPr>
        <p:spPr>
          <a:xfrm>
            <a:off x="8074080" y="1874520"/>
            <a:ext cx="1508400" cy="959760"/>
          </a:xfrm>
          <a:prstGeom prst="rect">
            <a:avLst/>
          </a:prstGeom>
          <a:solidFill>
            <a:srgbClr val="0B1626"/>
          </a:solidFill>
          <a:ln w="1524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" tIns="1800" rIns="1800" bIns="180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EAF6FF"/>
                </a:solidFill>
                <a:effectLst/>
                <a:uFillTx/>
                <a:latin typeface="Arial"/>
                <a:ea typeface="Arial"/>
              </a:rPr>
              <a:t>Place roles</a:t>
            </a:r>
            <a:endParaRPr lang="en-US" sz="1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EAF6FF"/>
                </a:solidFill>
                <a:effectLst/>
                <a:uFillTx/>
                <a:latin typeface="Arial"/>
                <a:ea typeface="Arial"/>
              </a:rPr>
              <a:t>position(N,R,O)</a:t>
            </a:r>
            <a:endParaRPr lang="en-US" sz="1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16"/>
          <p:cNvSpPr/>
          <p:nvPr/>
        </p:nvSpPr>
        <p:spPr>
          <a:xfrm>
            <a:off x="8165520" y="1965960"/>
            <a:ext cx="310680" cy="237240"/>
          </a:xfrm>
          <a:prstGeom prst="rect">
            <a:avLst/>
          </a:prstGeom>
          <a:solidFill>
            <a:srgbClr val="07111F"/>
          </a:solidFill>
          <a:ln w="1143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A78BFA"/>
                </a:solidFill>
                <a:effectLst/>
                <a:uFillTx/>
                <a:latin typeface="Arial"/>
                <a:ea typeface="Arial"/>
              </a:rPr>
              <a:t>05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17"/>
          <p:cNvSpPr/>
          <p:nvPr/>
        </p:nvSpPr>
        <p:spPr>
          <a:xfrm>
            <a:off x="9674280" y="2221920"/>
            <a:ext cx="2923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2EECA7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18"/>
          <p:cNvSpPr/>
          <p:nvPr/>
        </p:nvSpPr>
        <p:spPr>
          <a:xfrm>
            <a:off x="9966960" y="1874520"/>
            <a:ext cx="1508400" cy="959760"/>
          </a:xfrm>
          <a:prstGeom prst="rect">
            <a:avLst/>
          </a:prstGeom>
          <a:solidFill>
            <a:srgbClr val="0B1626"/>
          </a:solidFill>
          <a:ln w="15240">
            <a:solidFill>
              <a:srgbClr val="FF5D6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" tIns="1800" rIns="1800" bIns="180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EAF6FF"/>
                </a:solidFill>
                <a:effectLst/>
                <a:uFillTx/>
                <a:latin typeface="Arial"/>
                <a:ea typeface="Arial"/>
              </a:rPr>
              <a:t>Add properties</a:t>
            </a:r>
            <a:endParaRPr lang="en-US" sz="1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EAF6FF"/>
                </a:solidFill>
                <a:effectLst/>
                <a:uFillTx/>
                <a:latin typeface="Arial"/>
                <a:ea typeface="Arial"/>
              </a:rPr>
              <a:t>property(O,P,V)</a:t>
            </a:r>
            <a:endParaRPr lang="en-US" sz="1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19"/>
          <p:cNvSpPr/>
          <p:nvPr/>
        </p:nvSpPr>
        <p:spPr>
          <a:xfrm>
            <a:off x="10058400" y="1965960"/>
            <a:ext cx="310680" cy="237240"/>
          </a:xfrm>
          <a:prstGeom prst="rect">
            <a:avLst/>
          </a:prstGeom>
          <a:solidFill>
            <a:srgbClr val="07111F"/>
          </a:solidFill>
          <a:ln w="11430">
            <a:solidFill>
              <a:srgbClr val="FF5D6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5D6C"/>
                </a:solidFill>
                <a:effectLst/>
                <a:uFillTx/>
                <a:latin typeface="Arial"/>
                <a:ea typeface="Arial"/>
              </a:rPr>
              <a:t>06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20"/>
          <p:cNvSpPr/>
          <p:nvPr/>
        </p:nvSpPr>
        <p:spPr>
          <a:xfrm>
            <a:off x="731520" y="3749040"/>
            <a:ext cx="10698120" cy="868320"/>
          </a:xfrm>
          <a:prstGeom prst="rect">
            <a:avLst/>
          </a:prstGeom>
          <a:solidFill>
            <a:srgbClr val="07111F"/>
          </a:solidFill>
          <a:ln w="12700">
            <a:solidFill>
              <a:srgbClr val="2EEC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AF6FF"/>
                </a:solidFill>
                <a:effectLst/>
                <a:uFillTx/>
                <a:latin typeface="Arial"/>
                <a:ea typeface="Arial"/>
              </a:rPr>
              <a:t>Facts loaded from domain files are visible and read-only. Facts created through the UI are session-owned and expose Edit / Remove controls.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21"/>
          <p:cNvSpPr/>
          <p:nvPr/>
        </p:nvSpPr>
        <p:spPr>
          <a:xfrm>
            <a:off x="914400" y="5074920"/>
            <a:ext cx="10423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925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EECA7"/>
                </a:solidFill>
                <a:effectLst/>
                <a:uFillTx/>
                <a:latin typeface="Arial"/>
                <a:ea typeface="Arial"/>
              </a:rPr>
              <a:t>This generalizes beyond Flatland: automatic warehouses, AGV layouts, robot workcells and other domains can use the same UI skeleton.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22"/>
          <p:cNvSpPr/>
          <p:nvPr/>
        </p:nvSpPr>
        <p:spPr>
          <a:xfrm>
            <a:off x="411480" y="6437160"/>
            <a:ext cx="11384280" cy="360"/>
          </a:xfrm>
          <a:prstGeom prst="line">
            <a:avLst/>
          </a:prstGeom>
          <a:ln w="6350">
            <a:solidFill>
              <a:srgbClr val="18324B">
                <a:alpha val="9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24"/>
          <p:cNvSpPr/>
          <p:nvPr/>
        </p:nvSpPr>
        <p:spPr>
          <a:xfrm>
            <a:off x="11567160" y="6537960"/>
            <a:ext cx="31968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74FF6B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507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 0"/>
          <p:cNvSpPr/>
          <p:nvPr/>
        </p:nvSpPr>
        <p:spPr>
          <a:xfrm>
            <a:off x="502920" y="164520"/>
            <a:ext cx="38401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2EECA7"/>
                </a:solidFill>
                <a:effectLst/>
                <a:uFillTx/>
                <a:latin typeface="Arial"/>
                <a:ea typeface="Arial"/>
              </a:rPr>
              <a:t>NODE 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1"/>
          <p:cNvSpPr/>
          <p:nvPr/>
        </p:nvSpPr>
        <p:spPr>
          <a:xfrm>
            <a:off x="502920" y="475560"/>
            <a:ext cx="11155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EAF6FF"/>
                </a:solidFill>
                <a:effectLst/>
                <a:uFillTx/>
                <a:latin typeface="Arial"/>
                <a:ea typeface="Arial"/>
              </a:rPr>
              <a:t>Nodes: show domain nodes or generate a session grid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2"/>
          <p:cNvSpPr/>
          <p:nvPr/>
        </p:nvSpPr>
        <p:spPr>
          <a:xfrm>
            <a:off x="502920" y="932760"/>
            <a:ext cx="108810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AF6FF"/>
                </a:solidFill>
                <a:effectLst/>
                <a:uFillTx/>
                <a:latin typeface="Arial"/>
                <a:ea typeface="Arial"/>
              </a:rPr>
              <a:t>If node facts are loaded, the UI shows them. If they are missing, the user can generate nodes from dimensions.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3"/>
          <p:cNvSpPr/>
          <p:nvPr/>
        </p:nvSpPr>
        <p:spPr>
          <a:xfrm>
            <a:off x="640080" y="1600200"/>
            <a:ext cx="3245760" cy="1416960"/>
          </a:xfrm>
          <a:prstGeom prst="rect">
            <a:avLst/>
          </a:prstGeom>
          <a:solidFill>
            <a:srgbClr val="0B1626"/>
          </a:solidFill>
          <a:ln w="15240">
            <a:solidFill>
              <a:srgbClr val="2EEC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" tIns="1800" rIns="1800" bIns="180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EAF6FF"/>
                </a:solidFill>
                <a:effectLst/>
                <a:uFillTx/>
                <a:latin typeface="Arial"/>
                <a:ea typeface="Arial"/>
              </a:rPr>
              <a:t>Domain nodes exist</a:t>
            </a:r>
            <a:endParaRPr lang="en-US" sz="1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EAF6FF"/>
                </a:solidFill>
                <a:effectLst/>
                <a:uFillTx/>
                <a:latin typeface="Arial"/>
                <a:ea typeface="Arial"/>
              </a:rPr>
              <a:t>Render node((X,Y)) from the loaded domain files. These nodes are visible and read-only.</a:t>
            </a:r>
            <a:endParaRPr lang="en-US" sz="1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4"/>
          <p:cNvSpPr/>
          <p:nvPr/>
        </p:nvSpPr>
        <p:spPr>
          <a:xfrm>
            <a:off x="731520" y="1691640"/>
            <a:ext cx="310680" cy="237240"/>
          </a:xfrm>
          <a:prstGeom prst="rect">
            <a:avLst/>
          </a:prstGeom>
          <a:solidFill>
            <a:srgbClr val="07111F"/>
          </a:solidFill>
          <a:ln w="11430">
            <a:solidFill>
              <a:srgbClr val="2EEC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2EECA7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5"/>
          <p:cNvSpPr/>
          <p:nvPr/>
        </p:nvSpPr>
        <p:spPr>
          <a:xfrm>
            <a:off x="4069080" y="2148840"/>
            <a:ext cx="2923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35E7FF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6"/>
          <p:cNvSpPr/>
          <p:nvPr/>
        </p:nvSpPr>
        <p:spPr>
          <a:xfrm>
            <a:off x="4389120" y="1600200"/>
            <a:ext cx="2971440" cy="1416960"/>
          </a:xfrm>
          <a:prstGeom prst="rect">
            <a:avLst/>
          </a:prstGeom>
          <a:solidFill>
            <a:srgbClr val="0B1626"/>
          </a:solidFill>
          <a:ln w="15240">
            <a:solidFill>
              <a:srgbClr val="35E7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" tIns="1800" rIns="1800" bIns="180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EAF6FF"/>
                </a:solidFill>
                <a:effectLst/>
                <a:uFillTx/>
                <a:latin typeface="Arial"/>
                <a:ea typeface="Arial"/>
              </a:rPr>
              <a:t>No nodes found</a:t>
            </a:r>
            <a:endParaRPr lang="en-US" sz="1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EAF6FF"/>
                </a:solidFill>
                <a:effectLst/>
                <a:uFillTx/>
                <a:latin typeface="Arial"/>
                <a:ea typeface="Arial"/>
              </a:rPr>
              <a:t>Ask for grid dimensions once, e.g. width=10 and height=10.</a:t>
            </a:r>
            <a:endParaRPr lang="en-US" sz="1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7"/>
          <p:cNvSpPr/>
          <p:nvPr/>
        </p:nvSpPr>
        <p:spPr>
          <a:xfrm>
            <a:off x="4480560" y="1691640"/>
            <a:ext cx="310680" cy="237240"/>
          </a:xfrm>
          <a:prstGeom prst="rect">
            <a:avLst/>
          </a:prstGeom>
          <a:solidFill>
            <a:srgbClr val="07111F"/>
          </a:solidFill>
          <a:ln w="11430">
            <a:solidFill>
              <a:srgbClr val="35E7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35E7FF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8"/>
          <p:cNvSpPr/>
          <p:nvPr/>
        </p:nvSpPr>
        <p:spPr>
          <a:xfrm>
            <a:off x="7589520" y="2148840"/>
            <a:ext cx="2923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35E7FF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9"/>
          <p:cNvSpPr/>
          <p:nvPr/>
        </p:nvSpPr>
        <p:spPr>
          <a:xfrm>
            <a:off x="7909560" y="1600200"/>
            <a:ext cx="3337200" cy="1416960"/>
          </a:xfrm>
          <a:prstGeom prst="rect">
            <a:avLst/>
          </a:prstGeom>
          <a:solidFill>
            <a:srgbClr val="0B1626"/>
          </a:solidFill>
          <a:ln w="15240">
            <a:solidFill>
              <a:srgbClr val="FFD8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" tIns="1800" rIns="1800" bIns="180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EAF6FF"/>
                </a:solidFill>
                <a:effectLst/>
                <a:uFillTx/>
                <a:latin typeface="Arial"/>
                <a:ea typeface="Arial"/>
              </a:rPr>
              <a:t>Generate nodes</a:t>
            </a:r>
            <a:endParaRPr lang="en-US" sz="1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EAF6FF"/>
                </a:solidFill>
                <a:effectLst/>
                <a:uFillTx/>
                <a:latin typeface="Arial"/>
                <a:ea typeface="Arial"/>
              </a:rPr>
              <a:t>Create all coordinates from node((0,0)) to node((9,9)).</a:t>
            </a:r>
            <a:endParaRPr lang="en-US" sz="1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0"/>
          <p:cNvSpPr/>
          <p:nvPr/>
        </p:nvSpPr>
        <p:spPr>
          <a:xfrm>
            <a:off x="8001000" y="1691640"/>
            <a:ext cx="310680" cy="237240"/>
          </a:xfrm>
          <a:prstGeom prst="rect">
            <a:avLst/>
          </a:prstGeom>
          <a:solidFill>
            <a:srgbClr val="07111F"/>
          </a:solidFill>
          <a:ln w="11430">
            <a:solidFill>
              <a:srgbClr val="FFD8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D84A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11"/>
          <p:cNvSpPr/>
          <p:nvPr/>
        </p:nvSpPr>
        <p:spPr>
          <a:xfrm>
            <a:off x="777240" y="4160520"/>
            <a:ext cx="5257440" cy="1051200"/>
          </a:xfrm>
          <a:prstGeom prst="rect">
            <a:avLst/>
          </a:prstGeom>
          <a:solidFill>
            <a:srgbClr val="07111F"/>
          </a:solidFill>
          <a:ln w="12700">
            <a:solidFill>
              <a:srgbClr val="2EEC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EAF6FF"/>
                </a:solidFill>
                <a:effectLst/>
                <a:uFillTx/>
                <a:latin typeface="Arial"/>
                <a:ea typeface="Arial"/>
              </a:rPr>
              <a:t>Session grid controls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EAF6FF"/>
                </a:solidFill>
                <a:effectLst/>
                <a:uFillTx/>
                <a:latin typeface="Arial"/>
                <a:ea typeface="Arial"/>
              </a:rPr>
              <a:t>Edit dimensions · remove generated nodes · regenerate safely when the grid is empty or user-owned.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12"/>
          <p:cNvSpPr/>
          <p:nvPr/>
        </p:nvSpPr>
        <p:spPr>
          <a:xfrm>
            <a:off x="6355080" y="4160520"/>
            <a:ext cx="5074560" cy="1051200"/>
          </a:xfrm>
          <a:prstGeom prst="rect">
            <a:avLst/>
          </a:prstGeom>
          <a:solidFill>
            <a:srgbClr val="07111F"/>
          </a:solidFill>
          <a:ln w="1270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EAF6FF"/>
                </a:solidFill>
                <a:effectLst/>
                <a:uFillTx/>
                <a:latin typeface="Arial"/>
                <a:ea typeface="Arial"/>
              </a:rPr>
              <a:t>Read-only boundary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EAF6FF"/>
                </a:solidFill>
                <a:effectLst/>
                <a:uFillTx/>
                <a:latin typeface="Arial"/>
                <a:ea typeface="Arial"/>
              </a:rPr>
              <a:t>Nodes from domain files remain intact. Only UI/session-generated nodes or dimension state should be editable/removable.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13"/>
          <p:cNvSpPr/>
          <p:nvPr/>
        </p:nvSpPr>
        <p:spPr>
          <a:xfrm>
            <a:off x="411480" y="6437160"/>
            <a:ext cx="11384280" cy="360"/>
          </a:xfrm>
          <a:prstGeom prst="line">
            <a:avLst/>
          </a:prstGeom>
          <a:ln w="6350">
            <a:solidFill>
              <a:srgbClr val="18324B">
                <a:alpha val="9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15"/>
          <p:cNvSpPr/>
          <p:nvPr/>
        </p:nvSpPr>
        <p:spPr>
          <a:xfrm>
            <a:off x="11567160" y="6537960"/>
            <a:ext cx="31968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74FF6B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507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 0"/>
          <p:cNvSpPr/>
          <p:nvPr/>
        </p:nvSpPr>
        <p:spPr>
          <a:xfrm>
            <a:off x="502920" y="164520"/>
            <a:ext cx="38401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2EECA7"/>
                </a:solidFill>
                <a:effectLst/>
                <a:uFillTx/>
                <a:latin typeface="Arial"/>
                <a:ea typeface="Arial"/>
              </a:rPr>
              <a:t>OBJECT CREATION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1"/>
          <p:cNvSpPr/>
          <p:nvPr/>
        </p:nvSpPr>
        <p:spPr>
          <a:xfrm>
            <a:off x="502920" y="475560"/>
            <a:ext cx="11155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EAF6FF"/>
                </a:solidFill>
                <a:effectLst/>
                <a:uFillTx/>
                <a:latin typeface="Arial"/>
                <a:ea typeface="Arial"/>
              </a:rPr>
              <a:t>Objects: identifier is manual, type is flexible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2"/>
          <p:cNvSpPr/>
          <p:nvPr/>
        </p:nvSpPr>
        <p:spPr>
          <a:xfrm>
            <a:off x="502920" y="932760"/>
            <a:ext cx="108810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AF6FF"/>
                </a:solidFill>
                <a:effectLst/>
                <a:uFillTx/>
                <a:latin typeface="Arial"/>
                <a:ea typeface="Arial"/>
              </a:rPr>
              <a:t>To add object(O,T), the user provides an identifier and a type. The type may come from domain_type/2 or manual entry.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3"/>
          <p:cNvSpPr/>
          <p:nvPr/>
        </p:nvSpPr>
        <p:spPr>
          <a:xfrm>
            <a:off x="640080" y="1691640"/>
            <a:ext cx="3702960" cy="2880000"/>
          </a:xfrm>
          <a:prstGeom prst="rect">
            <a:avLst/>
          </a:prstGeom>
          <a:solidFill>
            <a:srgbClr val="0B1626"/>
          </a:solidFill>
          <a:ln w="12700">
            <a:solidFill>
              <a:srgbClr val="4DA3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AF6FF"/>
                </a:solidFill>
                <a:effectLst/>
                <a:uFillTx/>
                <a:latin typeface="Arial"/>
                <a:ea typeface="Arial"/>
              </a:rPr>
              <a:t>Object identifier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AF6FF"/>
                </a:solidFill>
                <a:effectLst/>
                <a:uFillTx/>
                <a:latin typeface="Arial"/>
                <a:ea typeface="Arial"/>
              </a:rPr>
              <a:t>Always manual.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AF6FF"/>
                </a:solidFill>
                <a:effectLst/>
                <a:uFillTx/>
                <a:latin typeface="Arial"/>
                <a:ea typeface="Arial"/>
              </a:rPr>
              <a:t>Examples: train1, station01, robot_a, shelf_7.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AF6FF"/>
                </a:solidFill>
                <a:effectLst/>
                <a:uFillTx/>
                <a:latin typeface="Arial"/>
                <a:ea typeface="Arial"/>
              </a:rPr>
              <a:t>Clingo treats these as constants, not natural-language meanings.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4"/>
          <p:cNvSpPr/>
          <p:nvPr/>
        </p:nvSpPr>
        <p:spPr>
          <a:xfrm>
            <a:off x="4526280" y="1691640"/>
            <a:ext cx="3702960" cy="2880000"/>
          </a:xfrm>
          <a:prstGeom prst="rect">
            <a:avLst/>
          </a:prstGeom>
          <a:solidFill>
            <a:srgbClr val="0B1626"/>
          </a:solidFill>
          <a:ln w="12700">
            <a:solidFill>
              <a:srgbClr val="35E7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AF6FF"/>
                </a:solidFill>
                <a:effectLst/>
                <a:uFillTx/>
                <a:latin typeface="Arial"/>
                <a:ea typeface="Arial"/>
              </a:rPr>
              <a:t>Object type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AF6FF"/>
                </a:solidFill>
                <a:effectLst/>
                <a:uFillTx/>
                <a:latin typeface="Arial"/>
                <a:ea typeface="Arial"/>
              </a:rPr>
              <a:t>Mode A: select from domain_type(D,T).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AF6FF"/>
                </a:solidFill>
                <a:effectLst/>
                <a:uFillTx/>
                <a:latin typeface="Arial"/>
                <a:ea typeface="Arial"/>
              </a:rPr>
              <a:t>Mode B: enter manually when type facts are missing or the user needs a new type.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5"/>
          <p:cNvSpPr/>
          <p:nvPr/>
        </p:nvSpPr>
        <p:spPr>
          <a:xfrm>
            <a:off x="8412480" y="1691640"/>
            <a:ext cx="3154320" cy="2880000"/>
          </a:xfrm>
          <a:prstGeom prst="rect">
            <a:avLst/>
          </a:prstGeom>
          <a:solidFill>
            <a:srgbClr val="0B1626"/>
          </a:solidFill>
          <a:ln w="12700">
            <a:solidFill>
              <a:srgbClr val="FF5D6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EAF6FF"/>
                </a:solidFill>
                <a:effectLst/>
                <a:uFillTx/>
                <a:latin typeface="Arial"/>
                <a:ea typeface="Arial"/>
              </a:rPr>
              <a:t>Limitation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EAF6FF"/>
                </a:solidFill>
                <a:effectLst/>
                <a:uFillTx/>
                <a:latin typeface="Arial"/>
                <a:ea typeface="Arial"/>
              </a:rPr>
              <a:t>Clingo cannot tell whether x is a meaningful name for type  train.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6"/>
          <p:cNvSpPr/>
          <p:nvPr/>
        </p:nvSpPr>
        <p:spPr>
          <a:xfrm>
            <a:off x="1143000" y="5074920"/>
            <a:ext cx="9920880" cy="639720"/>
          </a:xfrm>
          <a:prstGeom prst="rect">
            <a:avLst/>
          </a:prstGeom>
          <a:solidFill>
            <a:srgbClr val="07111F"/>
          </a:solidFill>
          <a:ln w="8890">
            <a:solidFill>
              <a:srgbClr val="2EEC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AF6FF"/>
                </a:solidFill>
                <a:effectLst/>
                <a:uFillTx/>
                <a:latin typeface="Courier New"/>
                <a:ea typeface="Courier New"/>
              </a:rPr>
              <a:t>object(track1,train). It still works 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7"/>
          <p:cNvSpPr/>
          <p:nvPr/>
        </p:nvSpPr>
        <p:spPr>
          <a:xfrm>
            <a:off x="411480" y="6437160"/>
            <a:ext cx="11384280" cy="360"/>
          </a:xfrm>
          <a:prstGeom prst="line">
            <a:avLst/>
          </a:prstGeom>
          <a:ln w="6350">
            <a:solidFill>
              <a:srgbClr val="18324B">
                <a:alpha val="9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9"/>
          <p:cNvSpPr/>
          <p:nvPr/>
        </p:nvSpPr>
        <p:spPr>
          <a:xfrm>
            <a:off x="11567160" y="6537960"/>
            <a:ext cx="31968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74FF6B"/>
                </a:solidFill>
                <a:effectLst/>
                <a:uFillTx/>
                <a:latin typeface="Arial"/>
                <a:ea typeface="Arial"/>
              </a:rPr>
              <a:t>6</a:t>
            </a:r>
            <a:endParaRPr lang="en-US" sz="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507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ext 0"/>
          <p:cNvSpPr/>
          <p:nvPr/>
        </p:nvSpPr>
        <p:spPr>
          <a:xfrm>
            <a:off x="502920" y="164520"/>
            <a:ext cx="38401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2EECA7"/>
                </a:solidFill>
                <a:effectLst/>
                <a:uFillTx/>
                <a:latin typeface="Arial"/>
                <a:ea typeface="Arial"/>
              </a:rPr>
              <a:t>IMAGE WORKFLOW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1"/>
          <p:cNvSpPr/>
          <p:nvPr/>
        </p:nvSpPr>
        <p:spPr>
          <a:xfrm>
            <a:off x="502920" y="475560"/>
            <a:ext cx="11155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EAF6FF"/>
                </a:solidFill>
                <a:effectLst/>
                <a:uFillTx/>
                <a:latin typeface="Arial"/>
                <a:ea typeface="Arial"/>
              </a:rPr>
              <a:t>Images: role first, then upload through the custom backend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2"/>
          <p:cNvSpPr/>
          <p:nvPr/>
        </p:nvSpPr>
        <p:spPr>
          <a:xfrm>
            <a:off x="502920" y="932760"/>
            <a:ext cx="108810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AF6FF"/>
                </a:solidFill>
                <a:effectLst/>
                <a:uFillTx/>
                <a:latin typeface="Arial"/>
                <a:ea typeface="Arial"/>
              </a:rPr>
              <a:t>Trac</a:t>
            </a:r>
            <a:r>
              <a:rPr lang="en-US" sz="1150" b="0" u="none" strike="noStrike">
                <a:solidFill>
                  <a:srgbClr val="EAF6FF"/>
                </a:solidFill>
                <a:effectLst/>
                <a:uFillTx/>
                <a:latin typeface="Arial"/>
                <a:ea typeface="Arial"/>
              </a:rPr>
              <a:t>ks </a:t>
            </a:r>
            <a:r>
              <a:rPr lang="en-US" sz="1150" b="0" u="none" strike="noStrike">
                <a:solidFill>
                  <a:srgbClr val="EAF6FF"/>
                </a:solidFill>
                <a:effectLst/>
                <a:uFillTx/>
                <a:latin typeface="Arial"/>
                <a:ea typeface="Arial"/>
              </a:rPr>
              <a:t>can </a:t>
            </a:r>
            <a:r>
              <a:rPr lang="en-US" sz="1150" b="0" u="none" strike="noStrike">
                <a:solidFill>
                  <a:srgbClr val="EAF6FF"/>
                </a:solidFill>
                <a:effectLst/>
                <a:uFillTx/>
                <a:latin typeface="Arial"/>
                <a:ea typeface="Arial"/>
              </a:rPr>
              <a:t>som</a:t>
            </a:r>
            <a:r>
              <a:rPr lang="en-US" sz="1150" b="0" u="none" strike="noStrike">
                <a:solidFill>
                  <a:srgbClr val="EAF6FF"/>
                </a:solidFill>
                <a:effectLst/>
                <a:uFillTx/>
                <a:latin typeface="Arial"/>
                <a:ea typeface="Arial"/>
              </a:rPr>
              <a:t>etim</a:t>
            </a:r>
            <a:r>
              <a:rPr lang="en-US" sz="1150" b="0" u="none" strike="noStrike">
                <a:solidFill>
                  <a:srgbClr val="EAF6FF"/>
                </a:solidFill>
                <a:effectLst/>
                <a:uFillTx/>
                <a:latin typeface="Arial"/>
                <a:ea typeface="Arial"/>
              </a:rPr>
              <a:t>es </a:t>
            </a:r>
            <a:r>
              <a:rPr lang="en-US" sz="1150" b="0" u="none" strike="noStrike">
                <a:solidFill>
                  <a:srgbClr val="EAF6FF"/>
                </a:solidFill>
                <a:effectLst/>
                <a:uFillTx/>
                <a:latin typeface="Arial"/>
                <a:ea typeface="Arial"/>
              </a:rPr>
              <a:t>deriv</a:t>
            </a:r>
            <a:r>
              <a:rPr lang="en-US" sz="1150" b="0" u="none" strike="noStrike">
                <a:solidFill>
                  <a:srgbClr val="EAF6FF"/>
                </a:solidFill>
                <a:effectLst/>
                <a:uFillTx/>
                <a:latin typeface="Arial"/>
                <a:ea typeface="Arial"/>
              </a:rPr>
              <a:t>e </a:t>
            </a:r>
            <a:r>
              <a:rPr lang="en-US" sz="1150" b="0" u="none" strike="noStrike">
                <a:solidFill>
                  <a:srgbClr val="EAF6FF"/>
                </a:solidFill>
                <a:effectLst/>
                <a:uFillTx/>
                <a:latin typeface="Arial"/>
                <a:ea typeface="Arial"/>
              </a:rPr>
              <a:t>imag</a:t>
            </a:r>
            <a:r>
              <a:rPr lang="en-US" sz="1150" b="0" u="none" strike="noStrike">
                <a:solidFill>
                  <a:srgbClr val="EAF6FF"/>
                </a:solidFill>
                <a:effectLst/>
                <a:uFillTx/>
                <a:latin typeface="Arial"/>
                <a:ea typeface="Arial"/>
              </a:rPr>
              <a:t>es </a:t>
            </a:r>
            <a:r>
              <a:rPr lang="en-US" sz="1150" b="0" u="none" strike="noStrike">
                <a:solidFill>
                  <a:srgbClr val="EAF6FF"/>
                </a:solidFill>
                <a:effectLst/>
                <a:uFillTx/>
                <a:latin typeface="Arial"/>
                <a:ea typeface="Arial"/>
              </a:rPr>
              <a:t>from </a:t>
            </a:r>
            <a:r>
              <a:rPr lang="en-US" sz="1150" b="0" u="none" strike="noStrike">
                <a:solidFill>
                  <a:srgbClr val="EAF6FF"/>
                </a:solidFill>
                <a:effectLst/>
                <a:uFillTx/>
                <a:latin typeface="Arial"/>
                <a:ea typeface="Arial"/>
              </a:rPr>
              <a:t>prop</a:t>
            </a:r>
            <a:r>
              <a:rPr lang="en-US" sz="1150" b="0" u="none" strike="noStrike">
                <a:solidFill>
                  <a:srgbClr val="EAF6FF"/>
                </a:solidFill>
                <a:effectLst/>
                <a:uFillTx/>
                <a:latin typeface="Arial"/>
                <a:ea typeface="Arial"/>
              </a:rPr>
              <a:t>erty </a:t>
            </a:r>
            <a:r>
              <a:rPr lang="en-US" sz="1150" b="0" u="none" strike="noStrike">
                <a:solidFill>
                  <a:srgbClr val="EAF6FF"/>
                </a:solidFill>
                <a:effectLst/>
                <a:uFillTx/>
                <a:latin typeface="Arial"/>
                <a:ea typeface="Arial"/>
              </a:rPr>
              <a:t>code</a:t>
            </a:r>
            <a:r>
              <a:rPr lang="en-US" sz="1150" b="0" u="none" strike="noStrike">
                <a:solidFill>
                  <a:srgbClr val="EAF6FF"/>
                </a:solidFill>
                <a:effectLst/>
                <a:uFillTx/>
                <a:latin typeface="Arial"/>
                <a:ea typeface="Arial"/>
              </a:rPr>
              <a:t>s, </a:t>
            </a:r>
            <a:r>
              <a:rPr lang="en-US" sz="1150" b="0" u="none" strike="noStrike">
                <a:solidFill>
                  <a:srgbClr val="EAF6FF"/>
                </a:solidFill>
                <a:effectLst/>
                <a:uFillTx/>
                <a:latin typeface="Arial"/>
                <a:ea typeface="Arial"/>
              </a:rPr>
              <a:t>but </a:t>
            </a:r>
            <a:r>
              <a:rPr lang="en-US" sz="1150" b="0" u="none" strike="noStrike">
                <a:solidFill>
                  <a:srgbClr val="EAF6FF"/>
                </a:solidFill>
                <a:effectLst/>
                <a:uFillTx/>
                <a:latin typeface="Arial"/>
                <a:ea typeface="Arial"/>
              </a:rPr>
              <a:t>man</a:t>
            </a:r>
            <a:r>
              <a:rPr lang="en-US" sz="1150" b="0" u="none" strike="noStrike">
                <a:solidFill>
                  <a:srgbClr val="EAF6FF"/>
                </a:solidFill>
                <a:effectLst/>
                <a:uFillTx/>
                <a:latin typeface="Arial"/>
                <a:ea typeface="Arial"/>
              </a:rPr>
              <a:t>y </a:t>
            </a:r>
            <a:r>
              <a:rPr lang="en-US" sz="1150" b="0" u="none" strike="noStrike">
                <a:solidFill>
                  <a:srgbClr val="EAF6FF"/>
                </a:solidFill>
                <a:effectLst/>
                <a:uFillTx/>
                <a:latin typeface="Arial"/>
                <a:ea typeface="Arial"/>
              </a:rPr>
              <a:t>obje</a:t>
            </a:r>
            <a:r>
              <a:rPr lang="en-US" sz="1150" b="0" u="none" strike="noStrike">
                <a:solidFill>
                  <a:srgbClr val="EAF6FF"/>
                </a:solidFill>
                <a:effectLst/>
                <a:uFillTx/>
                <a:latin typeface="Arial"/>
                <a:ea typeface="Arial"/>
              </a:rPr>
              <a:t>cts </a:t>
            </a:r>
            <a:r>
              <a:rPr lang="en-US" sz="1150" b="0" u="none" strike="noStrike">
                <a:solidFill>
                  <a:srgbClr val="EAF6FF"/>
                </a:solidFill>
                <a:effectLst/>
                <a:uFillTx/>
                <a:latin typeface="Arial"/>
                <a:ea typeface="Arial"/>
              </a:rPr>
              <a:t>have </a:t>
            </a:r>
            <a:r>
              <a:rPr lang="en-US" sz="1150" b="0" u="none" strike="noStrike">
                <a:solidFill>
                  <a:srgbClr val="EAF6FF"/>
                </a:solidFill>
                <a:effectLst/>
                <a:uFillTx/>
                <a:latin typeface="Arial"/>
                <a:ea typeface="Arial"/>
              </a:rPr>
              <a:t>no </a:t>
            </a:r>
            <a:r>
              <a:rPr lang="en-US" sz="1150" b="0" u="none" strike="noStrike">
                <a:solidFill>
                  <a:srgbClr val="EAF6FF"/>
                </a:solidFill>
                <a:effectLst/>
                <a:uFillTx/>
                <a:latin typeface="Arial"/>
                <a:ea typeface="Arial"/>
              </a:rPr>
              <a:t>code </a:t>
            </a:r>
            <a:r>
              <a:rPr lang="en-US" sz="1150" b="0" u="none" strike="noStrike">
                <a:solidFill>
                  <a:srgbClr val="EAF6FF"/>
                </a:solidFill>
                <a:effectLst/>
                <a:uFillTx/>
                <a:latin typeface="Arial"/>
                <a:ea typeface="Arial"/>
              </a:rPr>
              <a:t>or </a:t>
            </a:r>
            <a:r>
              <a:rPr lang="en-US" sz="1150" b="0" u="none" strike="noStrike">
                <a:solidFill>
                  <a:srgbClr val="EAF6FF"/>
                </a:solidFill>
                <a:effectLst/>
                <a:uFillTx/>
                <a:latin typeface="Arial"/>
                <a:ea typeface="Arial"/>
              </a:rPr>
              <a:t>pred</a:t>
            </a:r>
            <a:r>
              <a:rPr lang="en-US" sz="1150" b="0" u="none" strike="noStrike">
                <a:solidFill>
                  <a:srgbClr val="EAF6FF"/>
                </a:solidFill>
                <a:effectLst/>
                <a:uFillTx/>
                <a:latin typeface="Arial"/>
                <a:ea typeface="Arial"/>
              </a:rPr>
              <a:t>eclar</a:t>
            </a:r>
            <a:r>
              <a:rPr lang="en-US" sz="1150" b="0" u="none" strike="noStrike">
                <a:solidFill>
                  <a:srgbClr val="EAF6FF"/>
                </a:solidFill>
                <a:effectLst/>
                <a:uFillTx/>
                <a:latin typeface="Arial"/>
                <a:ea typeface="Arial"/>
              </a:rPr>
              <a:t>ed </a:t>
            </a:r>
            <a:r>
              <a:rPr lang="en-US" sz="1150" b="0" u="none" strike="noStrike">
                <a:solidFill>
                  <a:srgbClr val="EAF6FF"/>
                </a:solidFill>
                <a:effectLst/>
                <a:uFillTx/>
                <a:latin typeface="Arial"/>
                <a:ea typeface="Arial"/>
              </a:rPr>
              <a:t>imag</a:t>
            </a:r>
            <a:r>
              <a:rPr lang="en-US" sz="1150" b="0" u="none" strike="noStrike">
                <a:solidFill>
                  <a:srgbClr val="EAF6FF"/>
                </a:solidFill>
                <a:effectLst/>
                <a:uFillTx/>
                <a:latin typeface="Arial"/>
                <a:ea typeface="Arial"/>
              </a:rPr>
              <a:t>e.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3"/>
          <p:cNvSpPr/>
          <p:nvPr/>
        </p:nvSpPr>
        <p:spPr>
          <a:xfrm>
            <a:off x="640080" y="1444680"/>
            <a:ext cx="5440320" cy="456840"/>
          </a:xfrm>
          <a:prstGeom prst="rect">
            <a:avLst/>
          </a:prstGeom>
          <a:solidFill>
            <a:srgbClr val="07111F"/>
          </a:solidFill>
          <a:ln w="8890">
            <a:solidFill>
              <a:srgbClr val="FFD8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EAF6FF"/>
                </a:solidFill>
                <a:effectLst/>
                <a:uFillTx/>
                <a:latin typeface="Courier New"/>
                <a:ea typeface="Courier New"/>
              </a:rPr>
              <a:t>image(X,cell,"img/straight_0.png") :- object(X,track), property(X,code,32800).</a:t>
            </a:r>
            <a:endParaRPr lang="en-US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4"/>
          <p:cNvSpPr/>
          <p:nvPr/>
        </p:nvSpPr>
        <p:spPr>
          <a:xfrm>
            <a:off x="640080" y="2057400"/>
            <a:ext cx="5440320" cy="868320"/>
          </a:xfrm>
          <a:prstGeom prst="rect">
            <a:avLst/>
          </a:prstGeom>
          <a:solidFill>
            <a:srgbClr val="0B1626"/>
          </a:solidFill>
          <a:ln w="12700">
            <a:solidFill>
              <a:srgbClr val="FFD8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AF6FF"/>
                </a:solidFill>
                <a:effectLst/>
                <a:uFillTx/>
                <a:latin typeface="Arial"/>
                <a:ea typeface="Arial"/>
              </a:rPr>
              <a:t>Problem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AF6FF"/>
                </a:solidFill>
                <a:effectLst/>
                <a:uFillTx/>
                <a:latin typeface="Arial"/>
                <a:ea typeface="Arial"/>
              </a:rPr>
              <a:t>Tracks may derive visuals from code properties. Trains, stations, shelves or other objects may not have any code o.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5"/>
          <p:cNvSpPr/>
          <p:nvPr/>
        </p:nvSpPr>
        <p:spPr>
          <a:xfrm>
            <a:off x="6400800" y="1444680"/>
            <a:ext cx="5166000" cy="1782720"/>
          </a:xfrm>
          <a:prstGeom prst="rect">
            <a:avLst/>
          </a:prstGeom>
          <a:solidFill>
            <a:srgbClr val="0B1626"/>
          </a:solidFill>
          <a:ln w="12700">
            <a:solidFill>
              <a:srgbClr val="35E7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AF6FF"/>
                </a:solidFill>
                <a:effectLst/>
                <a:uFillTx/>
                <a:latin typeface="Arial"/>
                <a:ea typeface="Arial"/>
              </a:rPr>
              <a:t>Role input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AF6FF"/>
                </a:solidFill>
                <a:effectLst/>
                <a:uFillTx/>
                <a:latin typeface="Arial"/>
                <a:ea typeface="Arial"/>
              </a:rPr>
              <a:t>If type_role(T,R) exists: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AF6FF"/>
                </a:solidFill>
                <a:effectLst/>
                <a:uFillTx/>
                <a:latin typeface="Arial"/>
                <a:ea typeface="Arial"/>
              </a:rPr>
              <a:t>select available role.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AF6FF"/>
                </a:solidFill>
                <a:effectLst/>
                <a:uFillTx/>
                <a:latin typeface="Arial"/>
                <a:ea typeface="Arial"/>
              </a:rPr>
              <a:t>If missing or no domain files: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AF6FF"/>
                </a:solidFill>
                <a:effectLst/>
                <a:uFillTx/>
                <a:latin typeface="Arial"/>
                <a:ea typeface="Arial"/>
              </a:rPr>
              <a:t>type the role manually.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6"/>
          <p:cNvSpPr/>
          <p:nvPr/>
        </p:nvSpPr>
        <p:spPr>
          <a:xfrm>
            <a:off x="868680" y="3840480"/>
            <a:ext cx="5074560" cy="1325520"/>
          </a:xfrm>
          <a:prstGeom prst="rect">
            <a:avLst/>
          </a:prstGeom>
          <a:solidFill>
            <a:srgbClr val="07111F"/>
          </a:solidFill>
          <a:ln w="12700">
            <a:solidFill>
              <a:srgbClr val="2EEC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EAF6FF"/>
                </a:solidFill>
                <a:effectLst/>
                <a:uFillTx/>
                <a:latin typeface="Arial"/>
                <a:ea typeface="Arial"/>
              </a:rPr>
              <a:t>Custom Clinguin backend method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EAF6FF"/>
                </a:solidFill>
                <a:effectLst/>
                <a:uFillTx/>
                <a:latin typeface="Arial"/>
                <a:ea typeface="Arial"/>
              </a:rPr>
              <a:t>upload_object_image(O,R)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EAF6FF"/>
                </a:solidFill>
                <a:effectLst/>
                <a:uFillTx/>
                <a:latin typeface="Arial"/>
                <a:ea typeface="Arial"/>
              </a:rPr>
              <a:t>• validates file type and size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EAF6FF"/>
                </a:solidFill>
                <a:effectLst/>
                <a:uFillTx/>
                <a:latin typeface="Arial"/>
                <a:ea typeface="Arial"/>
              </a:rPr>
              <a:t>• stores the image asset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EAF6FF"/>
                </a:solidFill>
                <a:effectLst/>
                <a:uFillTx/>
                <a:latin typeface="Arial"/>
                <a:ea typeface="Arial"/>
              </a:rPr>
              <a:t>• adds image(O,R,Path) for the session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7"/>
          <p:cNvSpPr/>
          <p:nvPr/>
        </p:nvSpPr>
        <p:spPr>
          <a:xfrm>
            <a:off x="6400800" y="3840480"/>
            <a:ext cx="4891680" cy="1325520"/>
          </a:xfrm>
          <a:prstGeom prst="rect">
            <a:avLst/>
          </a:prstGeom>
          <a:solidFill>
            <a:srgbClr val="07111F"/>
          </a:solidFill>
          <a:ln w="12700">
            <a:solidFill>
              <a:srgbClr val="FF5D6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EAF6FF"/>
                </a:solidFill>
                <a:effectLst/>
                <a:uFillTx/>
                <a:latin typeface="Arial"/>
                <a:ea typeface="Arial"/>
              </a:rPr>
              <a:t>Ownership rule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EAF6FF"/>
                </a:solidFill>
                <a:effectLst/>
                <a:uFillTx/>
                <a:latin typeface="Arial"/>
                <a:ea typeface="Arial"/>
              </a:rPr>
              <a:t>Domain-derived image facts stay read-only.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EAF6FF"/>
                </a:solidFill>
                <a:effectLst/>
                <a:uFillTx/>
                <a:latin typeface="Arial"/>
                <a:ea typeface="Arial"/>
              </a:rPr>
              <a:t>Session-uploaded image facts are editable and removable.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8"/>
          <p:cNvSpPr/>
          <p:nvPr/>
        </p:nvSpPr>
        <p:spPr>
          <a:xfrm>
            <a:off x="411480" y="6437160"/>
            <a:ext cx="11384280" cy="360"/>
          </a:xfrm>
          <a:prstGeom prst="line">
            <a:avLst/>
          </a:prstGeom>
          <a:ln w="6350">
            <a:solidFill>
              <a:srgbClr val="18324B">
                <a:alpha val="9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10"/>
          <p:cNvSpPr/>
          <p:nvPr/>
        </p:nvSpPr>
        <p:spPr>
          <a:xfrm>
            <a:off x="11567160" y="6537960"/>
            <a:ext cx="31968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74FF6B"/>
                </a:solidFill>
                <a:effectLst/>
                <a:uFillTx/>
                <a:latin typeface="Arial"/>
                <a:ea typeface="Arial"/>
              </a:rPr>
              <a:t>7</a:t>
            </a:r>
            <a:endParaRPr lang="en-US" sz="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507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ext 0"/>
          <p:cNvSpPr/>
          <p:nvPr/>
        </p:nvSpPr>
        <p:spPr>
          <a:xfrm>
            <a:off x="502920" y="164520"/>
            <a:ext cx="38401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2EECA7"/>
                </a:solidFill>
                <a:effectLst/>
                <a:uFillTx/>
                <a:latin typeface="Arial"/>
                <a:ea typeface="Arial"/>
              </a:rPr>
              <a:t>PROPERTY 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1"/>
          <p:cNvSpPr/>
          <p:nvPr/>
        </p:nvSpPr>
        <p:spPr>
          <a:xfrm>
            <a:off x="502920" y="475560"/>
            <a:ext cx="11155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EAF6FF"/>
                </a:solidFill>
                <a:effectLst/>
                <a:uFillTx/>
                <a:latin typeface="Arial"/>
                <a:ea typeface="Arial"/>
              </a:rPr>
              <a:t>Properties: declared when possible, manual when necessary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2"/>
          <p:cNvSpPr/>
          <p:nvPr/>
        </p:nvSpPr>
        <p:spPr>
          <a:xfrm>
            <a:off x="502920" y="932760"/>
            <a:ext cx="108810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AF6FF"/>
                </a:solidFill>
                <a:effectLst/>
                <a:uFillTx/>
                <a:latin typeface="Arial"/>
                <a:ea typeface="Arial"/>
              </a:rPr>
              <a:t>type_property(T,P) facts can prefill expected properties, but missing schema should not block future property additions.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3"/>
          <p:cNvSpPr/>
          <p:nvPr/>
        </p:nvSpPr>
        <p:spPr>
          <a:xfrm>
            <a:off x="640080" y="1600200"/>
            <a:ext cx="3428640" cy="1416960"/>
          </a:xfrm>
          <a:prstGeom prst="rect">
            <a:avLst/>
          </a:prstGeom>
          <a:solidFill>
            <a:srgbClr val="0B1626"/>
          </a:solidFill>
          <a:ln w="12700">
            <a:solidFill>
              <a:srgbClr val="4DA3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AF6FF"/>
                </a:solidFill>
                <a:effectLst/>
                <a:uFillTx/>
                <a:latin typeface="Arial"/>
                <a:ea typeface="Arial"/>
              </a:rPr>
              <a:t>Normal case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AF6FF"/>
                </a:solidFill>
                <a:effectLst/>
                <a:uFillTx/>
                <a:latin typeface="Arial"/>
                <a:ea typeface="Arial"/>
              </a:rPr>
              <a:t>type_property(T,P) declares known or expected fields.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AF6FF"/>
                </a:solidFill>
                <a:effectLst/>
                <a:uFillTx/>
                <a:latin typeface="Arial"/>
                <a:ea typeface="Arial"/>
              </a:rPr>
              <a:t>The UI can list these properties and guide the user.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4"/>
          <p:cNvSpPr/>
          <p:nvPr/>
        </p:nvSpPr>
        <p:spPr>
          <a:xfrm>
            <a:off x="4389120" y="1600200"/>
            <a:ext cx="3428640" cy="1416960"/>
          </a:xfrm>
          <a:prstGeom prst="rect">
            <a:avLst/>
          </a:prstGeom>
          <a:solidFill>
            <a:srgbClr val="0B1626"/>
          </a:solidFill>
          <a:ln w="12700">
            <a:solidFill>
              <a:srgbClr val="FF5D6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AF6FF"/>
                </a:solidFill>
                <a:effectLst/>
                <a:uFillTx/>
                <a:latin typeface="Arial"/>
                <a:ea typeface="Arial"/>
              </a:rPr>
              <a:t>Missing schema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AF6FF"/>
                </a:solidFill>
                <a:effectLst/>
                <a:uFillTx/>
                <a:latin typeface="Arial"/>
                <a:ea typeface="Arial"/>
              </a:rPr>
              <a:t>If type_property facts are absent, the UI cannot know the expected property names. It should still allow manual property creation.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5"/>
          <p:cNvSpPr/>
          <p:nvPr/>
        </p:nvSpPr>
        <p:spPr>
          <a:xfrm>
            <a:off x="8138160" y="1600200"/>
            <a:ext cx="3428640" cy="1416960"/>
          </a:xfrm>
          <a:prstGeom prst="rect">
            <a:avLst/>
          </a:prstGeom>
          <a:solidFill>
            <a:srgbClr val="0B1626"/>
          </a:solidFill>
          <a:ln w="12700">
            <a:solidFill>
              <a:srgbClr val="FFD8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AF6FF"/>
                </a:solidFill>
                <a:effectLst/>
                <a:uFillTx/>
                <a:latin typeface="Arial"/>
                <a:ea typeface="Arial"/>
              </a:rPr>
              <a:t>Future extension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AF6FF"/>
                </a:solidFill>
                <a:effectLst/>
                <a:uFillTx/>
                <a:latin typeface="Arial"/>
                <a:ea typeface="Arial"/>
              </a:rPr>
              <a:t>A user may need a new property not known when the domain file was written.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6"/>
          <p:cNvSpPr/>
          <p:nvPr/>
        </p:nvSpPr>
        <p:spPr>
          <a:xfrm>
            <a:off x="777240" y="3840480"/>
            <a:ext cx="5577480" cy="1234080"/>
          </a:xfrm>
          <a:prstGeom prst="rect">
            <a:avLst/>
          </a:prstGeom>
          <a:solidFill>
            <a:srgbClr val="07111F"/>
          </a:solidFill>
          <a:ln w="12700">
            <a:solidFill>
              <a:srgbClr val="2EEC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EAF6FF"/>
                </a:solidFill>
                <a:effectLst/>
                <a:uFillTx/>
                <a:latin typeface="Arial"/>
                <a:ea typeface="Arial"/>
              </a:rPr>
              <a:t>Declared mode: choose from type_property(T,P).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EAF6FF"/>
                </a:solidFill>
                <a:effectLst/>
                <a:uFillTx/>
                <a:latin typeface="Arial"/>
                <a:ea typeface="Arial"/>
              </a:rPr>
              <a:t>Manual mode: enter a new property key.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EAF6FF"/>
                </a:solidFill>
                <a:effectLst/>
                <a:uFillTx/>
                <a:latin typeface="Arial"/>
                <a:ea typeface="Arial"/>
              </a:rPr>
              <a:t>Both produce property(Object,Property,Value).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8"/>
          <p:cNvSpPr/>
          <p:nvPr/>
        </p:nvSpPr>
        <p:spPr>
          <a:xfrm>
            <a:off x="1234440" y="5577840"/>
            <a:ext cx="9692280" cy="502560"/>
          </a:xfrm>
          <a:prstGeom prst="rect">
            <a:avLst/>
          </a:prstGeom>
          <a:solidFill>
            <a:srgbClr val="07111F"/>
          </a:solidFill>
          <a:ln w="8890">
            <a:solidFill>
              <a:srgbClr val="2EEC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EAF6FF"/>
                </a:solidFill>
                <a:effectLst/>
                <a:uFillTx/>
                <a:latin typeface="Courier New"/>
                <a:ea typeface="Courier New"/>
              </a:rPr>
              <a:t>property(train1,speed,2).</a:t>
            </a:r>
            <a:endParaRPr lang="en-US" sz="8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EAF6FF"/>
                </a:solidFill>
                <a:effectLst/>
                <a:uFillTx/>
                <a:latin typeface="Courier New"/>
                <a:ea typeface="Courier New"/>
              </a:rPr>
              <a:t>property(robot_a,battery,80).</a:t>
            </a:r>
            <a:endParaRPr lang="en-US" sz="8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EAF6FF"/>
                </a:solidFill>
                <a:effectLst/>
                <a:uFillTx/>
                <a:latin typeface="Courier New"/>
                <a:ea typeface="Courier New"/>
              </a:rPr>
              <a:t>property(shelf_7,capacity,40).</a:t>
            </a:r>
            <a:endParaRPr lang="en-US" sz="8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9"/>
          <p:cNvSpPr/>
          <p:nvPr/>
        </p:nvSpPr>
        <p:spPr>
          <a:xfrm>
            <a:off x="411480" y="6437160"/>
            <a:ext cx="11384280" cy="360"/>
          </a:xfrm>
          <a:prstGeom prst="line">
            <a:avLst/>
          </a:prstGeom>
          <a:ln w="6350">
            <a:solidFill>
              <a:srgbClr val="18324B">
                <a:alpha val="9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11"/>
          <p:cNvSpPr/>
          <p:nvPr/>
        </p:nvSpPr>
        <p:spPr>
          <a:xfrm>
            <a:off x="11567160" y="6537960"/>
            <a:ext cx="31968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74FF6B"/>
                </a:solidFill>
                <a:effectLst/>
                <a:uFillTx/>
                <a:latin typeface="Arial"/>
                <a:ea typeface="Arial"/>
              </a:rPr>
              <a:t>8</a:t>
            </a:r>
            <a:endParaRPr lang="en-US" sz="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LibreOffice/26.2.5.2$Linux_X86_64 LibreOffice_project/620$Build-2</Application>
  <AppVersion>15.0000</AppVersion>
  <Words>0</Words>
  <Paragraphs>0</Paragraphs>
  <Company>OpenAI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2026-10-07T15:20:29Z</dcterms:created>
  <dc:creator>OpenAI</dc:creator>
  <dc:description/>
  <dc:language>en-US</dc:language>
  <cp:lastModifiedBy/>
  <dcterms:modified xsi:type="dcterms:W3CDTF">2026-10-07T17:41:08Z</dcterms:modified>
  <cp:revision>2</cp:revision>
  <dc:subject>Self-initializing generic Clinguin UI</dc:subject>
  <dc:title>Self-initializing Generic UI in Clinguin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</vt:i4>
  </property>
  <property fmtid="{D5CDD505-2E9C-101B-9397-08002B2CF9AE}" pid="3" name="PresentationFormat">
    <vt:lpwstr>On-screen Show (16:9)</vt:lpwstr>
  </property>
  <property fmtid="{D5CDD505-2E9C-101B-9397-08002B2CF9AE}" pid="4" name="Slides">
    <vt:i4>10</vt:i4>
  </property>
</Properties>
</file>